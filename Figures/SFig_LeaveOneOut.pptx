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162004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CC6"/>
    <a:srgbClr val="CE6D32"/>
    <a:srgbClr val="A71531"/>
    <a:srgbClr val="F0F0F0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32" autoAdjust="0"/>
    <p:restoredTop sz="94660"/>
  </p:normalViewPr>
  <p:slideViewPr>
    <p:cSldViewPr snapToGrid="0">
      <p:cViewPr>
        <p:scale>
          <a:sx n="100" d="100"/>
          <a:sy n="100" d="100"/>
        </p:scale>
        <p:origin x="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1767462"/>
            <a:ext cx="13770372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5672376"/>
            <a:ext cx="12150329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11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935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2692444"/>
            <a:ext cx="13972878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7227345"/>
            <a:ext cx="13972878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2833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2874937"/>
            <a:ext cx="6885186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2874937"/>
            <a:ext cx="6885186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502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574990"/>
            <a:ext cx="13972878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2647443"/>
            <a:ext cx="685354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3944914"/>
            <a:ext cx="6853544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2647443"/>
            <a:ext cx="688729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3944914"/>
            <a:ext cx="688729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026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622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214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719984"/>
            <a:ext cx="5225063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1554968"/>
            <a:ext cx="8201472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239929"/>
            <a:ext cx="5225063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151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719984"/>
            <a:ext cx="5225063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1554968"/>
            <a:ext cx="8201472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3239929"/>
            <a:ext cx="5225063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135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286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0" y="574987"/>
            <a:ext cx="3493219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1" y="574987"/>
            <a:ext cx="10277153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665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574990"/>
            <a:ext cx="13972878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2874937"/>
            <a:ext cx="13972878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0009783"/>
            <a:ext cx="364509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5C1CA-FCAA-4C13-89B9-7E73E04FB5B9}" type="datetimeFigureOut">
              <a:rPr lang="en-GB" smtClean="0"/>
              <a:t>13/03/2023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0009783"/>
            <a:ext cx="54676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10009783"/>
            <a:ext cx="364509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C6F8-4F15-4242-87E3-4DDE39CF24E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072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2A04CFF-EBD8-8A8A-8D27-8BED2432AE19}"/>
              </a:ext>
            </a:extLst>
          </p:cNvPr>
          <p:cNvSpPr/>
          <p:nvPr/>
        </p:nvSpPr>
        <p:spPr>
          <a:xfrm>
            <a:off x="280640" y="201987"/>
            <a:ext cx="415386" cy="8027613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913" dirty="0">
                <a:solidFill>
                  <a:schemeClr val="tx1"/>
                </a:solidFill>
                <a:latin typeface="LM Roman 10" panose="00000500000000000000" pitchFamily="50" charset="0"/>
              </a:rPr>
              <a:t>Continuous data</a:t>
            </a:r>
            <a:endParaRPr lang="en-GB" sz="1913" dirty="0">
              <a:solidFill>
                <a:schemeClr val="tx1"/>
              </a:solidFill>
              <a:latin typeface="LM Roman 10" panose="00000500000000000000" pitchFamily="50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BA49DB-5CDB-3F90-C9C2-FB4C7EB0BBE7}"/>
              </a:ext>
            </a:extLst>
          </p:cNvPr>
          <p:cNvGrpSpPr/>
          <p:nvPr/>
        </p:nvGrpSpPr>
        <p:grpSpPr>
          <a:xfrm>
            <a:off x="738558" y="216124"/>
            <a:ext cx="3320421" cy="2729048"/>
            <a:chOff x="749742" y="444905"/>
            <a:chExt cx="3689393" cy="3032305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4542990-D096-9FD2-AA19-3CA8C3AB7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458971-00C1-B551-B80E-3D153D586E5B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Heel BMD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370191D-0610-2877-178B-A0BDF3E0C52B}"/>
              </a:ext>
            </a:extLst>
          </p:cNvPr>
          <p:cNvGrpSpPr/>
          <p:nvPr/>
        </p:nvGrpSpPr>
        <p:grpSpPr>
          <a:xfrm>
            <a:off x="4058981" y="216124"/>
            <a:ext cx="3320421" cy="2729048"/>
            <a:chOff x="749742" y="444905"/>
            <a:chExt cx="3689393" cy="3032305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F9D5070-A5B6-13A6-8B68-73799D69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B734A86-6A22-7503-FD7B-A85D1895E0E3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Cholesterol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D0BA67B-0AD4-1D31-9F22-11092C52CAFA}"/>
              </a:ext>
            </a:extLst>
          </p:cNvPr>
          <p:cNvGrpSpPr/>
          <p:nvPr/>
        </p:nvGrpSpPr>
        <p:grpSpPr>
          <a:xfrm>
            <a:off x="7379403" y="216124"/>
            <a:ext cx="3320421" cy="2729048"/>
            <a:chOff x="749742" y="444905"/>
            <a:chExt cx="3689393" cy="3032305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905DE0C-2F35-BE9D-D73A-EF3273B87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8DD9E7-4541-E511-8B22-A9ACDC87035A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Triglycerides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9B32F5-DC29-F666-A68F-54C216068060}"/>
              </a:ext>
            </a:extLst>
          </p:cNvPr>
          <p:cNvGrpSpPr/>
          <p:nvPr/>
        </p:nvGrpSpPr>
        <p:grpSpPr>
          <a:xfrm>
            <a:off x="10818328" y="216124"/>
            <a:ext cx="3320421" cy="2729048"/>
            <a:chOff x="749742" y="444905"/>
            <a:chExt cx="3689393" cy="303230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9387FCA-B7B9-FC45-9BC1-D39116A48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AF773EB-1D62-694A-3B4C-4CAE70A9A755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LDL cholesterol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5CBF13-DDB8-2425-5EB7-3749A91D08A7}"/>
              </a:ext>
            </a:extLst>
          </p:cNvPr>
          <p:cNvGrpSpPr/>
          <p:nvPr/>
        </p:nvGrpSpPr>
        <p:grpSpPr>
          <a:xfrm>
            <a:off x="738557" y="2945170"/>
            <a:ext cx="3320421" cy="2729048"/>
            <a:chOff x="749742" y="444905"/>
            <a:chExt cx="3689393" cy="303230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B0E9335-30F0-BF97-C0A6-A25971A12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24A2B65-C8D5-FDC2-0B4C-E112BD4C1A3F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HDL cholesterol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427AA3E-CBBA-6D5C-D5E4-0A7966899A06}"/>
              </a:ext>
            </a:extLst>
          </p:cNvPr>
          <p:cNvGrpSpPr/>
          <p:nvPr/>
        </p:nvGrpSpPr>
        <p:grpSpPr>
          <a:xfrm>
            <a:off x="4058980" y="2945171"/>
            <a:ext cx="3320421" cy="2729048"/>
            <a:chOff x="749742" y="444905"/>
            <a:chExt cx="3689393" cy="3032305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74CE2F4-4DF8-F47F-02EF-7982CF99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73A597F-60E4-2E53-0B1F-81ACA18F5D3A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Apolipoprotein A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D0ADBC-3246-9F88-BEEA-28C775E3DAC9}"/>
              </a:ext>
            </a:extLst>
          </p:cNvPr>
          <p:cNvGrpSpPr/>
          <p:nvPr/>
        </p:nvGrpSpPr>
        <p:grpSpPr>
          <a:xfrm>
            <a:off x="7379402" y="2945171"/>
            <a:ext cx="3320421" cy="2729048"/>
            <a:chOff x="749742" y="444905"/>
            <a:chExt cx="3689393" cy="3032305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65A06D0-F03E-06BD-EEC5-6265F9063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797BC92-219C-1546-5560-C02B13500147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Apolipoprotein B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9E3A214-D55E-FB81-9F8D-87821D527D1E}"/>
              </a:ext>
            </a:extLst>
          </p:cNvPr>
          <p:cNvGrpSpPr/>
          <p:nvPr/>
        </p:nvGrpSpPr>
        <p:grpSpPr>
          <a:xfrm>
            <a:off x="10818328" y="2945171"/>
            <a:ext cx="3320421" cy="2729048"/>
            <a:chOff x="749742" y="444905"/>
            <a:chExt cx="3689393" cy="3032305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36FCC2BE-C32E-DFCA-85D7-F2069FEAB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FE75FB6-CA41-474A-C01F-6581C15088FF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C-Reactive protein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A0D146-2D19-AF33-30CD-735347EFC67C}"/>
              </a:ext>
            </a:extLst>
          </p:cNvPr>
          <p:cNvGrpSpPr/>
          <p:nvPr/>
        </p:nvGrpSpPr>
        <p:grpSpPr>
          <a:xfrm>
            <a:off x="742244" y="5674215"/>
            <a:ext cx="3320421" cy="2729048"/>
            <a:chOff x="749742" y="444905"/>
            <a:chExt cx="3689393" cy="30323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4737B4F-98C7-D079-17F2-BF850CA46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BF62627-6922-01D1-5FA5-405DDE84CE0B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Lipoprotein (a)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23DF3FB-8E9E-1961-390B-844285FB0CB4}"/>
              </a:ext>
            </a:extLst>
          </p:cNvPr>
          <p:cNvGrpSpPr/>
          <p:nvPr/>
        </p:nvGrpSpPr>
        <p:grpSpPr>
          <a:xfrm>
            <a:off x="4058978" y="5674214"/>
            <a:ext cx="3320421" cy="2729048"/>
            <a:chOff x="749742" y="444905"/>
            <a:chExt cx="3689393" cy="3032305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1A525F4C-8E82-D37F-EB66-9FAC67E8F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3A151F-563B-1A1E-8FDF-1D5E47965AFA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HbA1c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93042FB-C74C-1F9F-1F4C-B44E64F31D18}"/>
              </a:ext>
            </a:extLst>
          </p:cNvPr>
          <p:cNvGrpSpPr/>
          <p:nvPr/>
        </p:nvGrpSpPr>
        <p:grpSpPr>
          <a:xfrm>
            <a:off x="7375712" y="5674213"/>
            <a:ext cx="3320421" cy="2729048"/>
            <a:chOff x="749742" y="444905"/>
            <a:chExt cx="3689393" cy="3032305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34858E1-F286-3201-1AA1-CCCA6FB08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5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CDCD59C-DCD7-3AAE-0E2A-49B08CE8CD23}"/>
                </a:ext>
              </a:extLst>
            </p:cNvPr>
            <p:cNvSpPr/>
            <p:nvPr/>
          </p:nvSpPr>
          <p:spPr>
            <a:xfrm rot="5400000">
              <a:off x="2489862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Glucose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773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2A04CFF-EBD8-8A8A-8D27-8BED2432AE19}"/>
              </a:ext>
            </a:extLst>
          </p:cNvPr>
          <p:cNvSpPr/>
          <p:nvPr/>
        </p:nvSpPr>
        <p:spPr>
          <a:xfrm>
            <a:off x="280640" y="201987"/>
            <a:ext cx="415386" cy="8027613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913" dirty="0">
                <a:solidFill>
                  <a:schemeClr val="tx1"/>
                </a:solidFill>
                <a:latin typeface="LM Roman 10" panose="00000500000000000000" pitchFamily="50" charset="0"/>
              </a:rPr>
              <a:t>Categorical data</a:t>
            </a:r>
            <a:endParaRPr lang="en-GB" sz="1913" dirty="0">
              <a:solidFill>
                <a:schemeClr val="tx1"/>
              </a:solidFill>
              <a:latin typeface="LM Roman 10" panose="00000500000000000000" pitchFamily="50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BA49DB-5CDB-3F90-C9C2-FB4C7EB0BBE7}"/>
              </a:ext>
            </a:extLst>
          </p:cNvPr>
          <p:cNvGrpSpPr/>
          <p:nvPr/>
        </p:nvGrpSpPr>
        <p:grpSpPr>
          <a:xfrm>
            <a:off x="738558" y="216124"/>
            <a:ext cx="3320421" cy="2729047"/>
            <a:chOff x="749742" y="444905"/>
            <a:chExt cx="3689393" cy="303230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4542990-D096-9FD2-AA19-3CA8C3AB7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4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458971-00C1-B551-B80E-3D153D586E5B}"/>
                </a:ext>
              </a:extLst>
            </p:cNvPr>
            <p:cNvSpPr/>
            <p:nvPr/>
          </p:nvSpPr>
          <p:spPr>
            <a:xfrm rot="5400000">
              <a:off x="2489862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Fracture*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5CBF13-DDB8-2425-5EB7-3749A91D08A7}"/>
              </a:ext>
            </a:extLst>
          </p:cNvPr>
          <p:cNvGrpSpPr/>
          <p:nvPr/>
        </p:nvGrpSpPr>
        <p:grpSpPr>
          <a:xfrm>
            <a:off x="738557" y="2945170"/>
            <a:ext cx="3320421" cy="2729047"/>
            <a:chOff x="749742" y="444905"/>
            <a:chExt cx="3689393" cy="3032304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B0E9335-30F0-BF97-C0A6-A25971A12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4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24A2B65-C8D5-FDC2-0B4C-E112BD4C1A3F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Coronary artery disease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427AA3E-CBBA-6D5C-D5E4-0A7966899A06}"/>
              </a:ext>
            </a:extLst>
          </p:cNvPr>
          <p:cNvGrpSpPr/>
          <p:nvPr/>
        </p:nvGrpSpPr>
        <p:grpSpPr>
          <a:xfrm>
            <a:off x="4058980" y="2945171"/>
            <a:ext cx="3320421" cy="2729047"/>
            <a:chOff x="749742" y="444905"/>
            <a:chExt cx="3689393" cy="3032304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74CE2F4-4DF8-F47F-02EF-7982CF99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4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73A597F-60E4-2E53-0B1F-81ACA18F5D3A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Myocardial infarction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D0ADBC-3246-9F88-BEEA-28C775E3DAC9}"/>
              </a:ext>
            </a:extLst>
          </p:cNvPr>
          <p:cNvGrpSpPr/>
          <p:nvPr/>
        </p:nvGrpSpPr>
        <p:grpSpPr>
          <a:xfrm>
            <a:off x="7379402" y="2945171"/>
            <a:ext cx="3320421" cy="2729047"/>
            <a:chOff x="749742" y="444905"/>
            <a:chExt cx="3689393" cy="3032304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65A06D0-F03E-06BD-EEC5-6265F9063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4"/>
            </a:xfrm>
            <a:prstGeom prst="rect">
              <a:avLst/>
            </a:prstGeom>
          </p:spPr>
        </p:pic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797BC92-219C-1546-5560-C02B13500147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Ischemic stroke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A0D146-2D19-AF33-30CD-735347EFC67C}"/>
              </a:ext>
            </a:extLst>
          </p:cNvPr>
          <p:cNvGrpSpPr/>
          <p:nvPr/>
        </p:nvGrpSpPr>
        <p:grpSpPr>
          <a:xfrm>
            <a:off x="742244" y="5674215"/>
            <a:ext cx="3320421" cy="2729047"/>
            <a:chOff x="749742" y="444905"/>
            <a:chExt cx="3689393" cy="3032304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64737B4F-98C7-D079-17F2-BF850CA46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4"/>
            </a:xfrm>
            <a:prstGeom prst="rect">
              <a:avLst/>
            </a:prstGeom>
          </p:spPr>
        </p:pic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BF62627-6922-01D1-5FA5-405DDE84CE0B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Hypertension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23DF3FB-8E9E-1961-390B-844285FB0CB4}"/>
              </a:ext>
            </a:extLst>
          </p:cNvPr>
          <p:cNvGrpSpPr/>
          <p:nvPr/>
        </p:nvGrpSpPr>
        <p:grpSpPr>
          <a:xfrm>
            <a:off x="4058978" y="5674214"/>
            <a:ext cx="3320421" cy="2729047"/>
            <a:chOff x="749742" y="444905"/>
            <a:chExt cx="3689393" cy="3032304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1A525F4C-8E82-D37F-EB66-9FAC67E8F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742" y="710165"/>
              <a:ext cx="3689393" cy="2767044"/>
            </a:xfrm>
            <a:prstGeom prst="rect">
              <a:avLst/>
            </a:prstGeom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E3A151F-563B-1A1E-8FDF-1D5E47965AFA}"/>
                </a:ext>
              </a:extLst>
            </p:cNvPr>
            <p:cNvSpPr/>
            <p:nvPr/>
          </p:nvSpPr>
          <p:spPr>
            <a:xfrm rot="5400000">
              <a:off x="2489863" y="-813037"/>
              <a:ext cx="340822" cy="2856706"/>
            </a:xfrm>
            <a:prstGeom prst="rect">
              <a:avLst/>
            </a:prstGeom>
            <a:solidFill>
              <a:srgbClr val="F0F0F0"/>
            </a:solidFill>
            <a:ln>
              <a:solidFill>
                <a:srgbClr val="F0F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89" dirty="0">
                  <a:solidFill>
                    <a:schemeClr val="tx1"/>
                  </a:solidFill>
                  <a:latin typeface="LM Roman 10" panose="00000500000000000000" pitchFamily="50" charset="0"/>
                </a:rPr>
                <a:t>Type II diabetes mellitus</a:t>
              </a:r>
              <a:endParaRPr lang="en-GB" sz="1489" dirty="0">
                <a:solidFill>
                  <a:schemeClr val="tx1"/>
                </a:solidFill>
                <a:latin typeface="LM Roman 10" panose="00000500000000000000" pitchFamily="50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D3BDE5D-B170-BD39-6C47-AC11065F47D2}"/>
              </a:ext>
            </a:extLst>
          </p:cNvPr>
          <p:cNvSpPr/>
          <p:nvPr/>
        </p:nvSpPr>
        <p:spPr>
          <a:xfrm>
            <a:off x="7813358" y="6438229"/>
            <a:ext cx="533400" cy="104775"/>
          </a:xfrm>
          <a:prstGeom prst="rect">
            <a:avLst/>
          </a:prstGeom>
          <a:solidFill>
            <a:srgbClr val="A71531"/>
          </a:solidFill>
          <a:ln>
            <a:solidFill>
              <a:srgbClr val="A715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F13DC-3AB5-DEF9-F069-B7F53C9446CB}"/>
              </a:ext>
            </a:extLst>
          </p:cNvPr>
          <p:cNvSpPr/>
          <p:nvPr/>
        </p:nvSpPr>
        <p:spPr>
          <a:xfrm>
            <a:off x="7813358" y="6772274"/>
            <a:ext cx="533400" cy="104775"/>
          </a:xfrm>
          <a:prstGeom prst="rect">
            <a:avLst/>
          </a:prstGeom>
          <a:solidFill>
            <a:srgbClr val="CE6D32"/>
          </a:solidFill>
          <a:ln>
            <a:solidFill>
              <a:srgbClr val="CE6D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56943-4535-3692-EAF0-C0FA26FB436D}"/>
              </a:ext>
            </a:extLst>
          </p:cNvPr>
          <p:cNvSpPr/>
          <p:nvPr/>
        </p:nvSpPr>
        <p:spPr>
          <a:xfrm>
            <a:off x="7813358" y="6104184"/>
            <a:ext cx="533400" cy="104775"/>
          </a:xfrm>
          <a:prstGeom prst="rect">
            <a:avLst/>
          </a:prstGeom>
          <a:solidFill>
            <a:srgbClr val="60ACC6"/>
          </a:solidFill>
          <a:ln>
            <a:solidFill>
              <a:srgbClr val="60AC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1EDCE-2247-F746-3014-468BEE2DE305}"/>
              </a:ext>
            </a:extLst>
          </p:cNvPr>
          <p:cNvSpPr txBox="1"/>
          <p:nvPr/>
        </p:nvSpPr>
        <p:spPr>
          <a:xfrm>
            <a:off x="8346758" y="6025766"/>
            <a:ext cx="2114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LM Roman 10" panose="00000500000000000000" pitchFamily="50" charset="0"/>
              </a:rPr>
              <a:t>GWAS</a:t>
            </a:r>
            <a:endParaRPr lang="en-GB" sz="1100" dirty="0">
              <a:latin typeface="LM Roman 10" panose="000005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3613B-3074-E8A1-B50B-6B65F9D7E4A7}"/>
              </a:ext>
            </a:extLst>
          </p:cNvPr>
          <p:cNvSpPr txBox="1"/>
          <p:nvPr/>
        </p:nvSpPr>
        <p:spPr>
          <a:xfrm>
            <a:off x="8346758" y="6359811"/>
            <a:ext cx="2114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LM Roman 10" panose="00000500000000000000" pitchFamily="50" charset="0"/>
              </a:rPr>
              <a:t>UKB-LR</a:t>
            </a:r>
            <a:endParaRPr lang="en-GB" sz="1100" dirty="0">
              <a:latin typeface="LM Roman 10" panose="000005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BD26-8761-26A8-4D6C-BC07F0DC0576}"/>
              </a:ext>
            </a:extLst>
          </p:cNvPr>
          <p:cNvSpPr txBox="1"/>
          <p:nvPr/>
        </p:nvSpPr>
        <p:spPr>
          <a:xfrm>
            <a:off x="8346758" y="6693856"/>
            <a:ext cx="2114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LM Roman 10" panose="00000500000000000000" pitchFamily="50" charset="0"/>
              </a:rPr>
              <a:t>UKB-SA</a:t>
            </a:r>
            <a:endParaRPr lang="en-GB" sz="1100" dirty="0">
              <a:latin typeface="LM Roman 1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4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41</Words>
  <Application>Microsoft Office PowerPoint</Application>
  <PresentationFormat>Custom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LM Roman 10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Marta Alcalde Herraiz</dc:creator>
  <cp:lastModifiedBy>Marta Alcalde Herraiz</cp:lastModifiedBy>
  <cp:revision>1</cp:revision>
  <dcterms:created xsi:type="dcterms:W3CDTF">2023-03-13T15:58:38Z</dcterms:created>
  <dcterms:modified xsi:type="dcterms:W3CDTF">2023-03-13T16:53:46Z</dcterms:modified>
</cp:coreProperties>
</file>